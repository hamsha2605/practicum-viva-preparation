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4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ECAE1"/>
                </a:solidFill>
                <a:latin typeface="Calibri"/>
              </a:rPr>
              <a:t>MSc PRACTICUM — SCHOOL OF COMPUTING, DCU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Explainable AI in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77639"/>
            <a:ext cx="210312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C9D6E5"/>
                </a:solidFill>
                <a:latin typeface="Calibri"/>
              </a:rPr>
              <a:t>Explaining a Transformer-based host intrusion detector to the humans who have to trust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Harrish Dhaithya Kutte Ajan Babu</a:t>
            </a:r>
          </a:p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Hamshavardhan Mohankumar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608076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5"/>
                </a:solidFill>
                <a:latin typeface="Calibri"/>
              </a:rPr>
              <a:t>Supervisor: Dr. Irina 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Attacks are outrunning rule-based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949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3B6EA5"/>
                </a:solidFill>
                <a:latin typeface="Calibri"/>
              </a:rPr>
              <a:t>— 79% malware-free.  </a:t>
            </a:r>
            <a:r>
              <a:rPr sz="1700">
                <a:solidFill>
                  <a:srgbClr val="222222"/>
                </a:solidFill>
                <a:latin typeface="Calibri"/>
              </a:rPr>
              <a:t>CrowdStrike's 2025 report: most 2024 intrusions were hands-on-keyboard, not signature-matchable malware.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3B6EA5"/>
                </a:solidFill>
                <a:latin typeface="Calibri"/>
              </a:rPr>
              <a:t>— Rule-based IDS can't keep up.  </a:t>
            </a:r>
            <a:r>
              <a:rPr sz="1700">
                <a:solidFill>
                  <a:srgbClr val="222222"/>
                </a:solidFill>
                <a:latin typeface="Calibri"/>
              </a:rPr>
              <a:t>Static, pre-configured rules miss evolving, novel attack behaviour.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3B6EA5"/>
                </a:solidFill>
                <a:latin typeface="Calibri"/>
              </a:rPr>
              <a:t>— ML/DL fixes detection, breaks trust.  </a:t>
            </a:r>
            <a:r>
              <a:rPr sz="1700">
                <a:solidFill>
                  <a:srgbClr val="222222"/>
                </a:solidFill>
                <a:latin typeface="Calibri"/>
              </a:rPr>
              <a:t>Deep models catch more, but analysts can't see why an alert fired — the classic “black box” problem.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3B6EA5"/>
                </a:solidFill>
                <a:latin typeface="Calibri"/>
              </a:rPr>
              <a:t>— XAI is the bridge.  </a:t>
            </a:r>
            <a:r>
              <a:rPr sz="1700">
                <a:solidFill>
                  <a:srgbClr val="222222"/>
                </a:solidFill>
                <a:latin typeface="Calibri"/>
              </a:rPr>
              <a:t>This work builds a detector, then explains its decisions three different ways, and asks security practitioners which explanation they actually trust.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737360"/>
            <a:ext cx="3657600" cy="41148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9659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377440"/>
            <a:ext cx="3200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1B2A41"/>
                </a:solidFill>
                <a:latin typeface="Calibri"/>
              </a:rPr>
              <a:t>Accurate detector</a:t>
            </a:r>
          </a:p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1B2A41"/>
                </a:solidFill>
                <a:latin typeface="Calibri"/>
              </a:rPr>
              <a:t>        +</a:t>
            </a:r>
          </a:p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1B2A41"/>
                </a:solidFill>
                <a:latin typeface="Calibri"/>
              </a:rPr>
              <a:t>No explanation</a:t>
            </a:r>
          </a:p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1B2A41"/>
                </a:solidFill>
                <a:latin typeface="Calibri"/>
              </a:rPr>
              <a:t>        =</a:t>
            </a:r>
          </a:p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1B2A41"/>
                </a:solidFill>
                <a:latin typeface="Calibri"/>
              </a:rPr>
              <a:t>Analyst can't verify,</a:t>
            </a:r>
          </a:p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1B2A41"/>
                </a:solidFill>
                <a:latin typeface="Calibri"/>
              </a:rPr>
              <a:t>can't act, can't trust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Two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212080" cy="3749039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09728" cy="3749039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B6EA5"/>
                </a:solidFill>
                <a:latin typeface="Calibri"/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572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B2A41"/>
                </a:solidFill>
                <a:latin typeface="Calibri"/>
              </a:rPr>
              <a:t>Which Explainable AI method is best suited for anomaly detection, and which one is most transparent and understandable for security analysts?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920240"/>
            <a:ext cx="5212080" cy="3749039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920240"/>
            <a:ext cx="109728" cy="3749039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B6EA5"/>
                </a:solidFill>
                <a:latin typeface="Calibri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45720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B2A41"/>
                </a:solidFill>
                <a:latin typeface="Calibri"/>
              </a:rPr>
              <a:t>How does adding explainability affect the model's performance, such as accuracy and response time?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Detection improves; explanation stays an afterthought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035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3B6EA5"/>
                </a:solidFill>
                <a:latin typeface="Calibri"/>
              </a:rPr>
              <a:t>— Deep learning for IDS is mature.  </a:t>
            </a:r>
            <a:r>
              <a:rPr sz="1650">
                <a:solidFill>
                  <a:srgbClr val="222222"/>
                </a:solidFill>
                <a:latin typeface="Calibri"/>
              </a:rPr>
              <a:t>DeepLog (LSTM) [8], CNN-LSTM-attention [9], ensembles [10], federated ResNets [11], self-supervised online learning [12], Transformer encoders on ADFA-LD [13].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3B6EA5"/>
                </a:solidFill>
                <a:latin typeface="Calibri"/>
              </a:rPr>
              <a:t>— XAI-for-IDS work exists,  </a:t>
            </a:r>
            <a:r>
              <a:rPr sz="1650">
                <a:solidFill>
                  <a:srgbClr val="222222"/>
                </a:solidFill>
                <a:latin typeface="Calibri"/>
              </a:rPr>
              <a:t>but mostly applies SHAP/LIME post-hoc to tree models or CNNs, on network-flow datasets, without asking the intended user anything [16][17][18][19].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3B6EA5"/>
                </a:solidFill>
                <a:latin typeface="Calibri"/>
              </a:rPr>
              <a:t>— Nobody compares explanation methods head-to-head  </a:t>
            </a:r>
            <a:r>
              <a:rPr sz="1650">
                <a:solidFill>
                  <a:srgbClr val="222222"/>
                </a:solidFill>
                <a:latin typeface="Calibri"/>
              </a:rPr>
              <a:t>with a real security-practitioner survey, on host-level syscall data, while also measuring their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737360"/>
            <a:ext cx="4663440" cy="42062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9202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331720"/>
            <a:ext cx="4114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>This work sits at the intersection: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>Host-based, syscall-level detection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>(like [13], but trace-level)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>+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>Multiple XAI methods compared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>directly, with a user study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>and a cost measurement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>(gap left by [16][17][18][19])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METHODOLOGY —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NGIDS-DS: 90 million host events, 6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3B6EA5"/>
                </a:solidFill>
                <a:latin typeface="Calibri"/>
              </a:rPr>
              <a:t>— Source.  </a:t>
            </a:r>
            <a:r>
              <a:rPr sz="1600">
                <a:solidFill>
                  <a:srgbClr val="222222"/>
                </a:solidFill>
                <a:latin typeface="Calibri"/>
              </a:rPr>
              <a:t>Haider (2018), UNSW thesis — real system-call traces from a 32-bit Linux host, labelled against real CVEs.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3B6EA5"/>
                </a:solidFill>
                <a:latin typeface="Calibri"/>
              </a:rPr>
              <a:t>— Scale.  </a:t>
            </a:r>
            <a:r>
              <a:rPr sz="1600">
                <a:solidFill>
                  <a:srgbClr val="222222"/>
                </a:solidFill>
                <a:latin typeface="Calibri"/>
              </a:rPr>
              <a:t>90,054,239 events → 1,262,427 attack (1.4%), across 99 CSV files, ~10GB raw → 300MB as parquet.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3B6EA5"/>
                </a:solidFill>
                <a:latin typeface="Calibri"/>
              </a:rPr>
              <a:t>— Categories.  </a:t>
            </a:r>
            <a:r>
              <a:rPr sz="1600">
                <a:solidFill>
                  <a:srgbClr val="222222"/>
                </a:solidFill>
                <a:latin typeface="Calibri"/>
              </a:rPr>
              <a:t>Exploits, DoS, Generic, Backdoors, Shellcode, Worms, Reconnaissance.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828800"/>
          <a:ext cx="49377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</a:tblGrid>
              <a:tr h="5257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Date(s)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Training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11–14 Mar 2016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15 Mar 2016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16 Mar 2016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41605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66666"/>
                </a:solidFill>
                <a:latin typeface="Calibri"/>
              </a:rPr>
              <a:t>Temporal split — train on the past, test on an unseen future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5760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66666"/>
                </a:solidFill>
                <a:latin typeface="Calibri"/>
              </a:rPr>
              <a:t>Each row: date, time, process id, path, syscall, event id, attack_cat, attack_subcat, label.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66666"/>
                </a:solidFill>
                <a:latin typeface="Calibri"/>
              </a:rPr>
              <a:t>Ground-truth file marks exactly which events are simulated attacks.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METHODOLOGY —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From raw logs to model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6EA5"/>
                </a:solidFill>
                <a:latin typeface="Calibri"/>
              </a:rPr>
              <a:t>1.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— Removed duplicate logged events.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— Dropped clock_gettime / gettimeofday — 52% of all events, equally common in attack and normal, zero separating power.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— 90,054,239 → 42,647,584 events after cleaning.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B6EA5"/>
                </a:solidFill>
                <a:latin typeface="Calibri"/>
              </a:rPr>
              <a:t>2. FEATURE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5740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3B6EA5"/>
                </a:solidFill>
                <a:latin typeface="Calibri"/>
              </a:rPr>
              <a:t>— Run-length encode.  </a:t>
            </a:r>
            <a:r>
              <a:rPr sz="1450">
                <a:solidFill>
                  <a:srgbClr val="222222"/>
                </a:solidFill>
                <a:latin typeface="Calibri"/>
              </a:rPr>
              <a:t>collapse repeated calls into (call, count) runs.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3B6EA5"/>
                </a:solidFill>
                <a:latin typeface="Calibri"/>
              </a:rPr>
              <a:t>— Fix length to 256.  </a:t>
            </a:r>
            <a:r>
              <a:rPr sz="1450">
                <a:solidFill>
                  <a:srgbClr val="222222"/>
                </a:solidFill>
                <a:latin typeface="Calibri"/>
              </a:rPr>
              <a:t>pad short traces, evenly downsample long ones.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3B6EA5"/>
                </a:solidFill>
                <a:latin typeface="Calibri"/>
              </a:rPr>
              <a:t>— Tokenise.  </a:t>
            </a:r>
            <a:r>
              <a:rPr sz="1450">
                <a:solidFill>
                  <a:srgbClr val="222222"/>
                </a:solidFill>
                <a:latin typeface="Calibri"/>
              </a:rPr>
              <a:t>vocabulary built from training days only.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3B6EA5"/>
                </a:solidFill>
                <a:latin typeface="Calibri"/>
              </a:rPr>
              <a:t>— Drop the program name.  </a:t>
            </a:r>
            <a:r>
              <a:rPr sz="1450">
                <a:solidFill>
                  <a:srgbClr val="222222"/>
                </a:solidFill>
                <a:latin typeface="Calibri"/>
              </a:rPr>
              <a:t>victim programs appear almost only in attacks — keeping identity would let the model cheat instead of learning behaviour.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3B6EA5"/>
                </a:solidFill>
                <a:latin typeface="Calibri"/>
              </a:rPr>
              <a:t>— Label the trace,  </a:t>
            </a:r>
            <a:r>
              <a:rPr sz="1450">
                <a:solidFill>
                  <a:srgbClr val="222222"/>
                </a:solidFill>
                <a:latin typeface="Calibri"/>
              </a:rPr>
              <a:t>attack if any of its events is an attack.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60520"/>
            <a:ext cx="5394960" cy="17373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B2A41"/>
                </a:solidFill>
                <a:latin typeface="Calibri"/>
              </a:rPr>
              <a:t>Why drop the program name?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B2A41"/>
                </a:solidFill>
                <a:latin typeface="Calibri"/>
              </a:rPr>
              <a:t>Firefox has zero normal events in this dataset; soffice.bin is &gt;99% attack. Keeping the name would let the model memorise the victim, not learn the behaviour.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METHODOLOGY —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A Transformer encoder over syscall traces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66" y="1691640"/>
            <a:ext cx="2974467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2040" y="1737360"/>
            <a:ext cx="6766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3B6EA5"/>
                </a:solidFill>
                <a:latin typeface="Calibri"/>
              </a:rPr>
              <a:t>— Input.  </a:t>
            </a:r>
            <a:r>
              <a:rPr sz="1550">
                <a:solidFill>
                  <a:srgbClr val="222222"/>
                </a:solidFill>
                <a:latin typeface="Calibri"/>
              </a:rPr>
              <a:t>256 positions × (call token + repeat count) — token, positional and count embeddings summed to 64-d.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3B6EA5"/>
                </a:solidFill>
                <a:latin typeface="Calibri"/>
              </a:rPr>
              <a:t>— 2 encoder blocks.  </a:t>
            </a:r>
            <a:r>
              <a:rPr sz="1550">
                <a:solidFill>
                  <a:srgbClr val="222222"/>
                </a:solidFill>
                <a:latin typeface="Calibri"/>
              </a:rPr>
              <a:t>4-head self-attention (padding masked) + feed-forward (64→128→64), residual + layer norm.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3B6EA5"/>
                </a:solidFill>
                <a:latin typeface="Calibri"/>
              </a:rPr>
              <a:t>— Pool &amp; classify.  </a:t>
            </a:r>
            <a:r>
              <a:rPr sz="1550">
                <a:solidFill>
                  <a:srgbClr val="222222"/>
                </a:solidFill>
                <a:latin typeface="Calibri"/>
              </a:rPr>
              <a:t>masked mean over real positions → dropout(0.3) → sigmoid → P(attack).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4480560"/>
            <a:ext cx="6766560" cy="19202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461772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956048"/>
            <a:ext cx="6309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B2A41"/>
                </a:solidFill>
                <a:latin typeface="Calibri"/>
              </a:rPr>
              <a:t>Adam · batch 128 · up to 25 epochs · early stop on validation PR-AUC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B2A41"/>
                </a:solidFill>
                <a:latin typeface="Calibri"/>
              </a:rPr>
              <a:t>Class-weighted loss (attacks are rare)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B2A41"/>
                </a:solidFill>
                <a:latin typeface="Calibri"/>
              </a:rPr>
              <a:t>Threshold picked on validation to maximise F2 (recall &gt; precision), frozen for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Three lenses on the same alert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20440" cy="3931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41"/>
                </a:solidFill>
                <a:latin typeface="Calibri"/>
              </a:rPr>
              <a:t>Occlusion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222"/>
                </a:solidFill>
                <a:latin typeface="Calibri"/>
              </a:rPr>
              <a:t>Remove a call / group, re-score, measure the log-odds drop.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55E00"/>
                </a:solidFill>
                <a:latin typeface="Calibri"/>
              </a:rPr>
              <a:t>EXACT, MODEL-AGNOSTIC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520440" cy="3931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520440" cy="109728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41"/>
                </a:solidFill>
                <a:latin typeface="Calibri"/>
              </a:rPr>
              <a:t>Attention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9748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222"/>
                </a:solidFill>
                <a:latin typeface="Calibri"/>
              </a:rPr>
              <a:t>Read the weights the model already computed.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2976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B6EA5"/>
                </a:solidFill>
                <a:latin typeface="Calibri"/>
              </a:rPr>
              <a:t>FREE-ISH, MODEL-SPECIFIC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520440" cy="3931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520440" cy="109728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488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41"/>
                </a:solidFill>
                <a:latin typeface="Calibri"/>
              </a:rPr>
              <a:t>LIME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222"/>
                </a:solidFill>
                <a:latin typeface="Calibri"/>
              </a:rPr>
              <a:t>Fit a local linear surrogate on perturbed traces.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2976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9E73"/>
                </a:solidFill>
                <a:latin typeface="Calibri"/>
              </a:rPr>
              <a:t>APPROXIMATE, MODEL-AGNOSTIC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66666"/>
                </a:solidFill>
                <a:latin typeface="Calibri"/>
              </a:rPr>
              <a:t>All three applied to the same alert, shown in the same card format — the study measures content, not presentation.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EXPLAINABILITY — OCCLUSION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Which behaviour drove this alert?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cclusion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83" y="1691640"/>
            <a:ext cx="5577432" cy="4663440"/>
          </a:xfrm>
          <a:prstGeom prst="rect">
            <a:avLst/>
          </a:prstGeom>
        </p:spPr>
      </p:pic>
      <p:pic>
        <p:nvPicPr>
          <p:cNvPr id="6" name="Picture 5" descr="occlusion_sysc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42229"/>
            <a:ext cx="5669280" cy="31622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EXPLAINABILITY —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Where did the model look?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904" y="1737360"/>
            <a:ext cx="636971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66666"/>
                </a:solidFill>
                <a:latin typeface="Calibri"/>
              </a:rPr>
              <a:t>Three process-related spikes (clone) stand out clearly above the uniform baseline — read straight off the model's own forward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EXPLAINABILITY — LIME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A local surrogate, one weight per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— Perturb the trace by randomly dropping calls.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— Score every perturbation with the detector.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— Fit a linear model to the results.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— Surrogate weight = that call's contribution to the alert.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— Familiar, widely-used local-importance format — but approximates the model rather than measuring it exactly.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737360"/>
            <a:ext cx="5943600" cy="40233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874519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B6EA5"/>
                </a:solidFill>
                <a:latin typeface="Calibri"/>
              </a:rPr>
              <a:t>SAMPLE OUTPUT (excerpt)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97880" y="228600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Syscall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Behaviour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LIME weight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/>
                        <a:t>clone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+0.0023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raises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/>
                        <a:t>poll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+0.0004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raises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/>
                        <a:t>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−0.0016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lowers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50"/>
                        <a:t>stat64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+0.0001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/>
                        <a:t>raises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97880" y="429768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Calibri"/>
              </a:rPr>
              <a:t>Full case: 22-run window from a real Firefox exploit trace on the test day, base score 0.92 vs threshold.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RESULTS —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Detector performance on the held-out test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07" y="1737360"/>
            <a:ext cx="3537944" cy="3383280"/>
          </a:xfrm>
          <a:prstGeom prst="rect">
            <a:avLst/>
          </a:prstGeom>
        </p:spPr>
      </p:pic>
      <p:pic>
        <p:nvPicPr>
          <p:cNvPr id="6" name="Picture 5" descr="p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919171"/>
            <a:ext cx="3566160" cy="30196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01000" y="1783080"/>
            <a:ext cx="3657600" cy="7498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56232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libri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182880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3B6EA5"/>
                </a:solidFill>
                <a:latin typeface="Calibri"/>
              </a:rPr>
              <a:t>75.0%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2679192"/>
            <a:ext cx="3657600" cy="7498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752344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libri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2724912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3B6EA5"/>
                </a:solidFill>
                <a:latin typeface="Calibri"/>
              </a:rPr>
              <a:t>78.7%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3575304"/>
            <a:ext cx="3657600" cy="7498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648456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libri"/>
              </a:rPr>
              <a:t>PR-AUC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3621024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3B6EA5"/>
                </a:solidFill>
                <a:latin typeface="Calibri"/>
              </a:rPr>
              <a:t>0.79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4471416"/>
            <a:ext cx="3657600" cy="7498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544568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libri"/>
              </a:rPr>
              <a:t>FAR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4517136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3B6EA5"/>
                </a:solidFill>
                <a:latin typeface="Calibri"/>
              </a:rPr>
              <a:t>1.8%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5367528"/>
            <a:ext cx="3657600" cy="7498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44068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libri"/>
              </a:rP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5413248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3B6EA5"/>
                </a:solidFill>
                <a:latin typeface="Calibri"/>
              </a:rPr>
              <a:t>96.3%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66666"/>
                </a:solidFill>
                <a:latin typeface="Calibri"/>
              </a:rPr>
              <a:t>1,548 test traces (128 attack). 96 attacks caught, 32 missed; 26 false alarms out of 1,420 normal traces.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RESULTS — RQ1: USER-CENTRIC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17 practitioners rate three explanations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5257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Usefulness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Ease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Trust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Occlusion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6.24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6.59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6.94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Attention</a:t>
                      </a:r>
                    </a:p>
                  </a:txBody>
                  <a:tcPr>
                    <a:solidFill>
                      <a:srgbClr val="DDE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7.29</a:t>
                      </a:r>
                    </a:p>
                  </a:txBody>
                  <a:tcPr>
                    <a:solidFill>
                      <a:srgbClr val="DDE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7.29</a:t>
                      </a:r>
                    </a:p>
                  </a:txBody>
                  <a:tcPr>
                    <a:solidFill>
                      <a:srgbClr val="DDE9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7.00</a:t>
                      </a:r>
                    </a:p>
                  </a:txBody>
                  <a:tcPr>
                    <a:solidFill>
                      <a:srgbClr val="DDE9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LIME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7.06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6.82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1"/>
                          </a:solidFill>
                        </a:rPr>
                        <a:t>6.88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66666"/>
                </a:solidFill>
                <a:latin typeface="Calibri"/>
              </a:rPr>
              <a:t>6 Software Devs · 4 IT Professionals · 3 Security Analysts · 4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“MOST EFFECTIVE OVERALL” (n=17)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860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Calibri"/>
              </a:rPr>
              <a:t>Attention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331720"/>
            <a:ext cx="1744675" cy="27432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8555" y="22860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Calibri"/>
              </a:rPr>
              <a:t>53%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Calibri"/>
              </a:rPr>
              <a:t>Occlusion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880360"/>
            <a:ext cx="954633" cy="27432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38513" y="283464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Calibri"/>
              </a:rPr>
              <a:t>29%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832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Calibri"/>
              </a:rPr>
              <a:t>LIME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429000"/>
            <a:ext cx="592531" cy="2743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6411" y="33832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Calibri"/>
              </a:rPr>
              <a:t>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605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More plain-language explanation alongside visuals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A clearer baseline/threshold to compare numbers against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A similarity score vs. previously seen attacks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404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Open feedback themes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RESULTS — RQ2: COST OF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Latency added per alert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B6EA5"/>
                </a:solidFill>
                <a:latin typeface="Calibri"/>
              </a:rPr>
              <a:t>GPU (ms)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4884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1645920"/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Explain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86.9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Attention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188.4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275.3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Occlusion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171.1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258.0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LIME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431.8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518.7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7830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B6EA5"/>
                </a:solidFill>
                <a:latin typeface="Calibri"/>
              </a:rPr>
              <a:t>CPU (ms)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214884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1645920"/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Explain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Attention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196.9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286.9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Occlusion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195.3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285.3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LIME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11,583.3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</a:rPr>
                        <a:t>11,673.3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434840"/>
            <a:ext cx="11064240" cy="1600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90288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>Attention and Occlusion: ~170–200ms either way — a small, fixed number of extra forward passes.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1B2A41"/>
                </a:solidFill>
                <a:latin typeface="Calibri"/>
              </a:rPr>
              <a:t>LIME: 431.8ms on GPU, but 11.6 seconds on CPU — it scores many perturbed samples individually, so it lives and dies by parallel hardware.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>What this does and doesn't show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3B6EA5"/>
                </a:solidFill>
                <a:latin typeface="Calibri"/>
              </a:rPr>
              <a:t>— Lack of quantified impact.  </a:t>
            </a:r>
            <a:r>
              <a:rPr sz="1650">
                <a:solidFill>
                  <a:srgbClr val="222222"/>
                </a:solidFill>
                <a:latin typeface="Calibri"/>
              </a:rPr>
              <a:t>Most XAI-for-IDS work asserts an explanation is useful; this study is one of the few that actually measures usefulness, ease and trust against real practitioners — and finds Attention preferred, but not by a wide margin.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3B6EA5"/>
                </a:solidFill>
                <a:latin typeface="Calibri"/>
              </a:rPr>
              <a:t>— Lack of standardisation.  </a:t>
            </a:r>
            <a:r>
              <a:rPr sz="1650">
                <a:solidFill>
                  <a:srgbClr val="222222"/>
                </a:solidFill>
                <a:latin typeface="Calibri"/>
              </a:rPr>
              <a:t>Occlusion, Attention and LIME were deliberately shown in one common card format so the comparison is about content, not presentation — but the field still has no agreed way to present or benchmark an explanation.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3B6EA5"/>
                </a:solidFill>
                <a:latin typeface="Calibri"/>
              </a:rPr>
              <a:t>— Cost is rarely reported at all.  </a:t>
            </a:r>
            <a:r>
              <a:rPr sz="1650">
                <a:solidFill>
                  <a:srgbClr val="222222"/>
                </a:solidFill>
                <a:latin typeface="Calibri"/>
              </a:rPr>
              <a:t>RQ2 shows the cost question isn't academic: LIME's CPU cost (11.6s) would be a real deployment blocker at alert volume, while Attention and Occlusion are effectively free by comparison.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3B6EA5"/>
                </a:solidFill>
                <a:latin typeface="Calibri"/>
              </a:rPr>
              <a:t>— Scope.  </a:t>
            </a:r>
            <a:r>
              <a:rPr sz="1650">
                <a:solidFill>
                  <a:srgbClr val="222222"/>
                </a:solidFill>
                <a:latin typeface="Calibri"/>
              </a:rPr>
              <a:t>Single-alert case studies, one dataset, one architecture — breadth across attack types and models is future work, not a claim made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B6EA5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9202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B6EA5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669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— Behaviour-only Transformer detector: 75.0% recall, 78.7% precision, 0.79 PR-AUC, 1.8% FAR, 96.3% accuracy.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— Three explanation methods compared head-to-head; Attention preferred by 53% of 17 practitioners.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— Occlusion and Attention: near-free. LIME: GPU-bound, 11.6s on CPU.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B6EA5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5740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— Plain-language explanation layer alongside the visuals.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— Similarity scoring against previously seen attacks.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>
                <a:solidFill>
                  <a:srgbClr val="222222"/>
                </a:solidFill>
                <a:latin typeface="Calibri"/>
              </a:rPr>
              <a:t>— Broaden evaluation beyond the single flagged-trace case studies used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Calibri"/>
              </a:rPr>
              <a:t>Explainable AI in Anomaly Detection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9ECAE1"/>
                </a:solidFill>
                <a:latin typeface="Calibri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297680"/>
            <a:ext cx="210312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9D6E5"/>
                </a:solidFill>
                <a:latin typeface="Calibri"/>
              </a:rPr>
              <a:t>Harrish Dhaithya Kutte Ajan Babu · Hamshavardhan Mohankumar — School of Computing, Dublin City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